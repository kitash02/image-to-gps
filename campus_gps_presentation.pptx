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9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5C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6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0" y="137160"/>
            <a:ext cx="3931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 dirty="0">
                <a:solidFill>
                  <a:srgbClr val="BFE3E8"/>
                </a:solidFill>
                <a:latin typeface="Calibri"/>
              </a:rPr>
              <a:t>Deep Learning </a:t>
            </a:r>
            <a:r>
              <a:rPr lang="en-US" sz="1000" b="0" i="0" dirty="0">
                <a:solidFill>
                  <a:srgbClr val="BFE3E8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BFE3E8"/>
                </a:solidFill>
                <a:latin typeface="Calibri"/>
              </a:rPr>
              <a:t>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Campus Image-to-GPS Regression
for Localization and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E3E8"/>
                </a:solidFill>
                <a:latin typeface="Calibri"/>
              </a:rPr>
              <a:t>Visual Localization via Deep Regression on a Self-Collected Campus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64992"/>
            <a:ext cx="1828800" cy="36576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93008"/>
            <a:ext cx="5486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Calibri"/>
              </a:rPr>
              <a:t>Shahaf Kita - M.Sc. Computer Science</a:t>
            </a:r>
          </a:p>
          <a:p>
            <a:r>
              <a:rPr lang="en-US" sz="1300" dirty="0">
                <a:solidFill>
                  <a:srgbClr val="FFFFFF"/>
                </a:solidFill>
              </a:rPr>
              <a:t>Roi Englander - B.Sc. Computer Science</a:t>
            </a:r>
            <a:endParaRPr sz="13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391229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BFE3E8"/>
                </a:solidFill>
                <a:latin typeface="Calibri"/>
              </a:rPr>
              <a:t>BGU,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8A94"/>
                </a:solidFill>
                <a:latin typeface="Calibri"/>
              </a:rPr>
              <a:t>Who we are and why we chose this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393192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64008" cy="3566160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5C6B"/>
                </a:solidFill>
                <a:latin typeface="Calibri"/>
              </a:rPr>
              <a:t>The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2"/>
                </a:solidFill>
                <a:latin typeface="Calibri"/>
              </a:rPr>
              <a:t>Shahaf 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01368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rgbClr val="374F5A"/>
                </a:solidFill>
                <a:latin typeface="Calibri"/>
              </a:rPr>
              <a:t>M.S</a:t>
            </a:r>
            <a:r>
              <a:rPr sz="1100" b="0" i="0" dirty="0">
                <a:solidFill>
                  <a:srgbClr val="374F5A"/>
                </a:solidFill>
                <a:latin typeface="Calibri"/>
              </a:rPr>
              <a:t>c</a:t>
            </a:r>
            <a:r>
              <a:rPr lang="en-US" sz="1100" b="0" i="0" dirty="0">
                <a:solidFill>
                  <a:srgbClr val="374F5A"/>
                </a:solidFill>
                <a:latin typeface="Calibri"/>
              </a:rPr>
              <a:t>.</a:t>
            </a:r>
            <a:r>
              <a:rPr sz="1100" b="0" i="0" dirty="0">
                <a:solidFill>
                  <a:srgbClr val="374F5A"/>
                </a:solidFill>
                <a:latin typeface="Calibri"/>
              </a:rPr>
              <a:t> Computer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1C2B32"/>
                </a:solidFill>
              </a:rPr>
              <a:t>Roi Englander</a:t>
            </a:r>
            <a:endParaRPr sz="1300" b="1" i="0" dirty="0">
              <a:solidFill>
                <a:srgbClr val="1C2B32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2532888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74F5A"/>
                </a:solidFill>
                <a:latin typeface="Calibri"/>
              </a:rPr>
              <a:t>B</a:t>
            </a:r>
            <a:r>
              <a:rPr lang="en-US" sz="1100" b="0" i="0" dirty="0">
                <a:solidFill>
                  <a:srgbClr val="374F5A"/>
                </a:solidFill>
                <a:latin typeface="Calibri"/>
              </a:rPr>
              <a:t>.</a:t>
            </a:r>
            <a:r>
              <a:rPr sz="1100" b="0" i="0" dirty="0">
                <a:solidFill>
                  <a:srgbClr val="374F5A"/>
                </a:solidFill>
                <a:latin typeface="Calibri"/>
              </a:rPr>
              <a:t>Sc</a:t>
            </a:r>
            <a:r>
              <a:rPr lang="en-US" sz="1100" b="0" i="0" dirty="0">
                <a:solidFill>
                  <a:srgbClr val="374F5A"/>
                </a:solidFill>
                <a:latin typeface="Calibri"/>
              </a:rPr>
              <a:t>.</a:t>
            </a:r>
            <a:r>
              <a:rPr sz="1100" b="0" i="0" dirty="0">
                <a:solidFill>
                  <a:srgbClr val="374F5A"/>
                </a:solidFill>
                <a:latin typeface="Calibri"/>
              </a:rPr>
              <a:t> Computer Science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17520"/>
            <a:ext cx="3520440" cy="36576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154680"/>
            <a:ext cx="3520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6B8A94"/>
                </a:solidFill>
                <a:latin typeface="Calibri"/>
              </a:rPr>
              <a:t>Project 4 </a:t>
            </a:r>
            <a:r>
              <a:rPr lang="he-IL" sz="1100" b="0" i="1" dirty="0">
                <a:solidFill>
                  <a:srgbClr val="6B8A94"/>
                </a:solidFill>
                <a:latin typeface="Calibri"/>
              </a:rPr>
              <a:t>-</a:t>
            </a:r>
            <a:r>
              <a:rPr sz="1100" b="0" i="1" dirty="0">
                <a:solidFill>
                  <a:srgbClr val="6B8A94"/>
                </a:solidFill>
                <a:latin typeface="Calibri"/>
              </a:rPr>
              <a:t> GPS Regression from a Single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914400"/>
            <a:ext cx="416052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63440" y="914400"/>
            <a:ext cx="64008" cy="356616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102412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5C6B"/>
                </a:solidFill>
                <a:latin typeface="Calibri"/>
              </a:rPr>
              <a:t>Why This Project?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28032" y="1572768"/>
            <a:ext cx="82296" cy="82296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10912" y="1536192"/>
            <a:ext cx="36576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374F5A"/>
                </a:solidFill>
                <a:latin typeface="Calibri"/>
              </a:rPr>
              <a:t>GPS signals degrade indoors and near complex structures. We wanted to explore whether a neural network could serve as a visual GPS </a:t>
            </a:r>
            <a:r>
              <a:rPr lang="he-IL" sz="1150" b="0" i="0" dirty="0">
                <a:solidFill>
                  <a:srgbClr val="374F5A"/>
                </a:solidFill>
                <a:latin typeface="Calibri"/>
              </a:rPr>
              <a:t>-</a:t>
            </a:r>
            <a:r>
              <a:rPr sz="1150" b="0" i="0" dirty="0">
                <a:solidFill>
                  <a:srgbClr val="374F5A"/>
                </a:solidFill>
                <a:latin typeface="Calibri"/>
              </a:rPr>
              <a:t> predicting absolute coordinates from a single photo.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28032" y="2441448"/>
            <a:ext cx="82296" cy="82296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10912" y="240487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F5A"/>
                </a:solidFill>
                <a:latin typeface="Calibri"/>
              </a:rPr>
              <a:t>We were drawn to the full pipeline challenge: collecting real data, managing label noise, designing a leak-free training procedure, and measuring accuracy in physical meters.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28032" y="3310128"/>
            <a:ext cx="82296" cy="82296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10912" y="3273552"/>
            <a:ext cx="365760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374F5A"/>
                </a:solidFill>
                <a:latin typeface="Calibri"/>
              </a:rPr>
              <a:t>The project sits at the intersection of transfer learning, regression, and geospatial reasoning </a:t>
            </a:r>
            <a:r>
              <a:rPr lang="he-IL" sz="1150" b="0" i="0" dirty="0">
                <a:solidFill>
                  <a:srgbClr val="374F5A"/>
                </a:solidFill>
                <a:latin typeface="Calibri"/>
              </a:rPr>
              <a:t>-</a:t>
            </a:r>
            <a:r>
              <a:rPr sz="1150" b="0" i="0" dirty="0">
                <a:solidFill>
                  <a:srgbClr val="374F5A"/>
                </a:solidFill>
                <a:latin typeface="Calibri"/>
              </a:rPr>
              <a:t> a genuinely hard problem with tangible real-world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8A94"/>
                </a:solidFill>
                <a:latin typeface="Calibri"/>
              </a:rPr>
              <a:t>Predicting absolute GPS coordinates from a single RGB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1645920" cy="914400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Single RGB
Image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344168"/>
            <a:ext cx="457200" cy="73152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95728" y="12344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8A9A"/>
                </a:solidFill>
                <a:latin typeface="Calibri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624328" y="1005840"/>
            <a:ext cx="1719072" cy="914400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24328" y="1005840"/>
            <a:ext cx="171907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CNN
Regression
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44168"/>
            <a:ext cx="457200" cy="73152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3168" y="12344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8A9A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1768" y="1005840"/>
            <a:ext cx="1901952" cy="91440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01768" y="1012379"/>
            <a:ext cx="1901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[ Latitude,
  Longitude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03120"/>
            <a:ext cx="6583680" cy="438912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13969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A5C6B"/>
                </a:solidFill>
                <a:latin typeface="Calibri"/>
              </a:rPr>
              <a:t>predict_gps(image: np.ndarray[H,W,3, uint8])  →  np.ndarray shape (2,) float32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960120"/>
            <a:ext cx="1965960" cy="82296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40880" y="960120"/>
            <a:ext cx="64008" cy="822960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78040" y="10058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5C6B"/>
                </a:solidFill>
                <a:latin typeface="Calibri"/>
              </a:rPr>
              <a:t>Day / Night Domain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2618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F5A"/>
                </a:solidFill>
                <a:latin typeface="Calibri"/>
              </a:rPr>
              <a:t>Same location looks radically different under daylight vs artificial lighting.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1874519"/>
            <a:ext cx="1965960" cy="82296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40880" y="1874519"/>
            <a:ext cx="64008" cy="82296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78040" y="1920239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5C6B"/>
                </a:solidFill>
                <a:latin typeface="Calibri"/>
              </a:rPr>
              <a:t>Missing GPS Labels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F5A"/>
                </a:solidFill>
                <a:latin typeface="Calibri"/>
              </a:rPr>
              <a:t>Many campus photos lack EXIF GPS metadata, reducing the usable labeled set.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2788920"/>
            <a:ext cx="1965960" cy="82296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40880" y="2788920"/>
            <a:ext cx="64008" cy="822960"/>
          </a:xfrm>
          <a:prstGeom prst="rect">
            <a:avLst/>
          </a:prstGeom>
          <a:solidFill>
            <a:srgbClr val="5A7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78040" y="2834639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5C6B"/>
                </a:solidFill>
                <a:latin typeface="Calibri"/>
              </a:rPr>
              <a:t>Visual Ambiguity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0906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F5A"/>
                </a:solidFill>
                <a:latin typeface="Calibri"/>
              </a:rPr>
              <a:t>Repetitive facades and symmetric corridors confuse the regression head.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3703320"/>
            <a:ext cx="1965960" cy="82296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40880" y="3703320"/>
            <a:ext cx="64008" cy="822960"/>
          </a:xfrm>
          <a:prstGeom prst="rect">
            <a:avLst/>
          </a:prstGeom>
          <a:solidFill>
            <a:srgbClr val="4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78040" y="3749039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5C6B"/>
                </a:solidFill>
                <a:latin typeface="Calibri"/>
              </a:rPr>
              <a:t>Coordinate-Space Regression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005072"/>
            <a:ext cx="178308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374F5A"/>
                </a:solidFill>
                <a:latin typeface="Calibri"/>
              </a:rPr>
              <a:t>Predicting smooth </a:t>
            </a:r>
            <a:r>
              <a:rPr sz="950" b="0" i="0" dirty="0" err="1">
                <a:solidFill>
                  <a:srgbClr val="374F5A"/>
                </a:solidFill>
                <a:latin typeface="Calibri"/>
              </a:rPr>
              <a:t>lat</a:t>
            </a:r>
            <a:r>
              <a:rPr sz="950" b="0" i="0" dirty="0">
                <a:solidFill>
                  <a:srgbClr val="374F5A"/>
                </a:solidFill>
                <a:latin typeface="Calibri"/>
              </a:rPr>
              <a:t>/</a:t>
            </a:r>
            <a:r>
              <a:rPr sz="950" b="0" i="0" dirty="0" err="1">
                <a:solidFill>
                  <a:srgbClr val="374F5A"/>
                </a:solidFill>
                <a:latin typeface="Calibri"/>
              </a:rPr>
              <a:t>lon</a:t>
            </a:r>
            <a:r>
              <a:rPr sz="950" b="0" i="0" dirty="0">
                <a:solidFill>
                  <a:srgbClr val="374F5A"/>
                </a:solidFill>
                <a:latin typeface="Calibri"/>
              </a:rPr>
              <a:t> jointly is harder than classification </a:t>
            </a:r>
            <a:r>
              <a:rPr lang="en-US" sz="950" b="0" i="0" dirty="0">
                <a:solidFill>
                  <a:srgbClr val="374F5A"/>
                </a:solidFill>
                <a:latin typeface="Calibri"/>
              </a:rPr>
              <a:t>-</a:t>
            </a:r>
            <a:r>
              <a:rPr sz="950" b="0" i="0" dirty="0">
                <a:solidFill>
                  <a:srgbClr val="374F5A"/>
                </a:solidFill>
                <a:latin typeface="Calibri"/>
              </a:rPr>
              <a:t> no </a:t>
            </a:r>
            <a:r>
              <a:rPr sz="950" b="0" i="0" dirty="0" err="1">
                <a:solidFill>
                  <a:srgbClr val="374F5A"/>
                </a:solidFill>
                <a:latin typeface="Calibri"/>
              </a:rPr>
              <a:t>softmax</a:t>
            </a:r>
            <a:r>
              <a:rPr sz="950" b="0" i="0" dirty="0">
                <a:solidFill>
                  <a:srgbClr val="374F5A"/>
                </a:solidFill>
                <a:latin typeface="Calibri"/>
              </a:rPr>
              <a:t> ceiling.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Self-Collected Campus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8A94"/>
                </a:solidFill>
                <a:latin typeface="Calibri"/>
              </a:rPr>
              <a:t>Real-world images labeled via EXIF GPS metadata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920240" cy="1280160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69848"/>
            <a:ext cx="1920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1,931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02612"/>
            <a:ext cx="1920240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FE3E8"/>
                </a:solidFill>
                <a:latin typeface="Calibri"/>
              </a:rPr>
              <a:t>Raw Images Collected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960120"/>
            <a:ext cx="1920240" cy="1280160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40" y="1069848"/>
            <a:ext cx="1920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02612"/>
            <a:ext cx="1920240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FE3E8"/>
                </a:solidFill>
                <a:latin typeface="Calibri"/>
              </a:rPr>
              <a:t>Day Photos (labeled)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960120"/>
            <a:ext cx="1920240" cy="1280160"/>
          </a:xfrm>
          <a:prstGeom prst="rect">
            <a:avLst/>
          </a:prstGeom>
          <a:solidFill>
            <a:srgbClr val="084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069848"/>
            <a:ext cx="1920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1,136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02612"/>
            <a:ext cx="1920240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FE3E8"/>
                </a:solidFill>
                <a:latin typeface="Calibri"/>
              </a:rPr>
              <a:t>Night Photos (raw)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960120"/>
            <a:ext cx="2331720" cy="128016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069848"/>
            <a:ext cx="23317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1,517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02612"/>
            <a:ext cx="2331720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DE9D5"/>
                </a:solidFill>
                <a:latin typeface="Calibri"/>
              </a:rPr>
              <a:t>Labeled (EXIF-GPS valid)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286000"/>
            <a:ext cx="1920240" cy="411480"/>
          </a:xfrm>
          <a:prstGeom prst="rect">
            <a:avLst/>
          </a:prstGeom>
          <a:solidFill>
            <a:srgbClr val="FDE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60" y="23134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08030"/>
                </a:solidFill>
                <a:latin typeface="Calibri"/>
              </a:rPr>
              <a:t>722 night photos retain valid GPS after EXIF filtering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88920"/>
            <a:ext cx="2743200" cy="123444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788920"/>
            <a:ext cx="64008" cy="1234440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2880360"/>
            <a:ext cx="2560320" cy="1149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 dirty="0">
                <a:solidFill>
                  <a:srgbClr val="0A5C6B"/>
                </a:solidFill>
                <a:latin typeface="Calibri"/>
              </a:rPr>
              <a:t>EXIF Label Extraction</a:t>
            </a:r>
          </a:p>
          <a:p>
            <a:pPr>
              <a:spcBef>
                <a:spcPts val="200"/>
              </a:spcBef>
            </a:pPr>
            <a:r>
              <a:rPr sz="1050" dirty="0">
                <a:solidFill>
                  <a:srgbClr val="374F5A"/>
                </a:solidFill>
                <a:latin typeface="Calibri"/>
              </a:rPr>
              <a:t>GPS coordinates extracted programmatically from image EXIF metadata. Images missing </a:t>
            </a:r>
            <a:r>
              <a:rPr sz="1050" dirty="0" err="1">
                <a:solidFill>
                  <a:srgbClr val="374F5A"/>
                </a:solidFill>
                <a:latin typeface="Calibri"/>
              </a:rPr>
              <a:t>GPSLatitude</a:t>
            </a:r>
            <a:r>
              <a:rPr sz="1050" dirty="0">
                <a:solidFill>
                  <a:srgbClr val="374F5A"/>
                </a:solidFill>
                <a:latin typeface="Calibri"/>
              </a:rPr>
              <a:t> or </a:t>
            </a:r>
            <a:r>
              <a:rPr sz="1050" dirty="0" err="1">
                <a:solidFill>
                  <a:srgbClr val="374F5A"/>
                </a:solidFill>
                <a:latin typeface="Calibri"/>
              </a:rPr>
              <a:t>GPSLongitude</a:t>
            </a:r>
            <a:r>
              <a:rPr sz="1050" dirty="0">
                <a:solidFill>
                  <a:srgbClr val="374F5A"/>
                </a:solidFill>
                <a:latin typeface="Calibri"/>
              </a:rPr>
              <a:t> fields are discarded </a:t>
            </a:r>
            <a:r>
              <a:rPr lang="he-IL" sz="1050" dirty="0">
                <a:solidFill>
                  <a:srgbClr val="374F5A"/>
                </a:solidFill>
                <a:latin typeface="Calibri"/>
              </a:rPr>
              <a:t>-</a:t>
            </a:r>
            <a:r>
              <a:rPr sz="1050" dirty="0">
                <a:solidFill>
                  <a:srgbClr val="374F5A"/>
                </a:solidFill>
                <a:latin typeface="Calibri"/>
              </a:rPr>
              <a:t> no manual labeling.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2788920"/>
            <a:ext cx="2743200" cy="123444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46120" y="2788920"/>
            <a:ext cx="64008" cy="123444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3279" y="28803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A5C6B"/>
                </a:solidFill>
                <a:latin typeface="Calibri"/>
              </a:rPr>
              <a:t>Geographic Deception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74F5A"/>
                </a:solidFill>
                <a:latin typeface="Calibri"/>
              </a:rPr>
              <a:t>Multiple photos from near-identical camera positions create ambiguous GPS clusters, making the regression problem harder than a naive distance suggests.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788920"/>
            <a:ext cx="2743200" cy="123444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80760" y="2788920"/>
            <a:ext cx="64008" cy="1234440"/>
          </a:xfrm>
          <a:prstGeom prst="rect">
            <a:avLst/>
          </a:prstGeom>
          <a:solidFill>
            <a:srgbClr val="5A7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28803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A5C6B"/>
                </a:solidFill>
                <a:latin typeface="Calibri"/>
              </a:rPr>
              <a:t>Dynamic Scene Interference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74F5A"/>
                </a:solidFill>
                <a:latin typeface="Calibri"/>
              </a:rPr>
              <a:t>Pedestrians, vehicles, and transient objects risk being spuriously correlated with nearby GPS anchors, inflating prediction error.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End-to-End Training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8A94"/>
                </a:solidFill>
                <a:latin typeface="Calibri"/>
              </a:rPr>
              <a:t>Six deterministic stages from raw EXIF ingestion to geodetic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914400"/>
            <a:ext cx="1298448" cy="1097280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9326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1261872"/>
            <a:ext cx="118871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Raw
Ingestion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2084831"/>
            <a:ext cx="1298448" cy="1234440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" y="2121408"/>
            <a:ext cx="1207007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A5C6B"/>
                </a:solidFill>
                <a:latin typeface="Calibri"/>
              </a:rPr>
              <a:t>EXIF metadata
extraction &amp;
label parsing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3624" y="132588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48A9A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39" y="914400"/>
            <a:ext cx="1298448" cy="1097280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91639" y="9326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1261872"/>
            <a:ext cx="118871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Strict
Partitioning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39" y="2084831"/>
            <a:ext cx="1298448" cy="1234440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37360" y="2121408"/>
            <a:ext cx="1207007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A5C6B"/>
                </a:solidFill>
                <a:latin typeface="Calibri"/>
              </a:rPr>
              <a:t>seed=42 split
70 / 15 / 15 %
train/val/test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1" y="132588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48A9A"/>
                </a:solidFill>
                <a:latin typeface="Calibr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27248" y="914400"/>
            <a:ext cx="1298448" cy="109728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27248" y="9326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5C6B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261872"/>
            <a:ext cx="118871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C2B32"/>
                </a:solidFill>
                <a:latin typeface="Calibri"/>
              </a:rPr>
              <a:t>Isolated
Scaling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084831"/>
            <a:ext cx="1298448" cy="1234440"/>
          </a:xfrm>
          <a:prstGeom prst="rect">
            <a:avLst/>
          </a:prstGeom>
          <a:solidFill>
            <a:srgbClr val="FDE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72968" y="2121408"/>
            <a:ext cx="1207007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A5C6B"/>
                </a:solidFill>
                <a:latin typeface="Calibri"/>
              </a:rPr>
              <a:t>MinMaxScaler
fit on train only
— zero leakage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132588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48A9A"/>
                </a:solidFill>
                <a:latin typeface="Calibr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62855" y="914400"/>
            <a:ext cx="1298448" cy="1097280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62855" y="9326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1261872"/>
            <a:ext cx="118871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Augmentation
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62855" y="2084831"/>
            <a:ext cx="1298448" cy="1234440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08575" y="2121408"/>
            <a:ext cx="1207007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A5C6B"/>
                </a:solidFill>
                <a:latin typeface="Calibri"/>
              </a:rPr>
              <a:t>Flip, ColorJitter,
Grayscale, Blur,
Rotation ±10°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7" y="132588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48A9A"/>
                </a:solidFill>
                <a:latin typeface="Calibri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98464" y="914400"/>
            <a:ext cx="1298448" cy="1097280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98464" y="9326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71616" y="1261872"/>
            <a:ext cx="118871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Train &amp;
Optimize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98464" y="2084831"/>
            <a:ext cx="1298448" cy="1234440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44183" y="2121408"/>
            <a:ext cx="1207007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A5C6B"/>
                </a:solidFill>
                <a:latin typeface="Calibri"/>
              </a:rPr>
              <a:t>Adam + Huber
ReduceLROnPlateau
Early stopping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06055" y="132588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48A9A"/>
                </a:solidFill>
                <a:latin typeface="Calibri"/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4071" y="914400"/>
            <a:ext cx="1298448" cy="1097280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34071" y="9326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7223" y="1261872"/>
            <a:ext cx="118871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TTA +
Haversine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34071" y="2084831"/>
            <a:ext cx="1298448" cy="1234440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79792" y="2121408"/>
            <a:ext cx="1207007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A5C6B"/>
                </a:solidFill>
                <a:latin typeface="Calibri"/>
              </a:rPr>
              <a:t>3-variant TTA
WGS-84 distance
in meters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" y="3429000"/>
            <a:ext cx="8631936" cy="384048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3456432"/>
            <a:ext cx="84490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0A5C6B"/>
                </a:solidFill>
                <a:latin typeface="Calibri"/>
              </a:rPr>
              <a:t>Haversine evaluation uses WGS-84 (R = 6,378,137 m, float64) </a:t>
            </a:r>
            <a:r>
              <a:rPr lang="he-IL" sz="1000" b="0" i="1" dirty="0">
                <a:solidFill>
                  <a:srgbClr val="0A5C6B"/>
                </a:solidFill>
                <a:latin typeface="Calibri"/>
              </a:rPr>
              <a:t>-</a:t>
            </a:r>
            <a:r>
              <a:rPr sz="1000" b="0" i="1" dirty="0">
                <a:solidFill>
                  <a:srgbClr val="0A5C6B"/>
                </a:solidFill>
                <a:latin typeface="Calibri"/>
              </a:rPr>
              <a:t> reporting MDE, MedDE, Acc@5m, 10m, 20m, 50m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Makes Our Approach Special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8A94"/>
                </a:solidFill>
                <a:latin typeface="Calibri"/>
              </a:rPr>
              <a:t>Four differentiating choices versus a naive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41148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82296" cy="1737360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051560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5C6B"/>
                </a:solidFill>
                <a:latin typeface="Calibri"/>
              </a:rPr>
              <a:t>Real Data from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399032"/>
            <a:ext cx="3886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F5A"/>
                </a:solidFill>
                <a:latin typeface="Calibri"/>
              </a:rPr>
              <a:t>We physically collected 1,931 campus images and extracted GPS ground truth from EXIF metadata. No synthetic data, no pre-existing dataset — all labels are derived from device GPS embedded in each photo.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960120"/>
            <a:ext cx="41148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60" y="960120"/>
            <a:ext cx="82296" cy="1737360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73752" y="1051560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5C6B"/>
                </a:solidFill>
                <a:latin typeface="Calibri"/>
              </a:rPr>
              <a:t>Zero Data Leakage by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1399032"/>
            <a:ext cx="3886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F5A"/>
                </a:solidFill>
                <a:latin typeface="Calibri"/>
              </a:rPr>
              <a:t>The MinMaxScaler is fit exclusively on the training split, then applied to val and test. A shared split manifest (JSON, seed=42) ensures all three backbones are evaluated on exactly the same test 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07792"/>
            <a:ext cx="41148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907792"/>
            <a:ext cx="82296" cy="173736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" y="2999232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5C6B"/>
                </a:solidFill>
                <a:latin typeface="Calibri"/>
              </a:rPr>
              <a:t>Two-Stage Training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3346704"/>
            <a:ext cx="3886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F5A"/>
                </a:solidFill>
                <a:latin typeface="Calibri"/>
              </a:rPr>
              <a:t>We first ran a 100-epoch backbone competition (ResNet50, EfficientNet-B0, ConvNeXt-Tiny) on the full labeled set. Then we fine-tuned only the best backbone on the matched photos split — isolating the fine-tuning gain cleanly.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2907792"/>
            <a:ext cx="41148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9160" y="2907792"/>
            <a:ext cx="82296" cy="1737360"/>
          </a:xfrm>
          <a:prstGeom prst="rect">
            <a:avLst/>
          </a:prstGeom>
          <a:solidFill>
            <a:srgbClr val="17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73752" y="2999232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5C6B"/>
                </a:solidFill>
                <a:latin typeface="Calibri"/>
              </a:rPr>
              <a:t>Test-Time Augmentation + Haversine 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3346704"/>
            <a:ext cx="3886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F5A"/>
                </a:solidFill>
                <a:latin typeface="Calibri"/>
              </a:rPr>
              <a:t>At inference, three image variants (original, horizontal flip, brightness ×1.3) are averaged before inverse-scaling. Error is reported as Haversine distance in meters on WGS-84 — the same metric used by GPS hardware.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Backbone Selection: 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8A94"/>
                </a:solidFill>
                <a:latin typeface="Calibri"/>
              </a:rPr>
              <a:t>100-epoch training on the full labeled dataset (N=231 test images, seed=42)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828800" cy="457200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960120"/>
            <a:ext cx="1417320" cy="457200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40864" y="10058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MDE (m)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960120"/>
            <a:ext cx="1417320" cy="457200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58183" y="10058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MedDE (m)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960120"/>
            <a:ext cx="1417320" cy="457200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75503" y="10058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Acc@5 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59" y="960120"/>
            <a:ext cx="1417320" cy="457200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92823" y="10058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Acc@10 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417320"/>
            <a:ext cx="1828800" cy="658368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" y="154533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5C6B"/>
                </a:solidFill>
                <a:latin typeface="Calibri"/>
              </a:rPr>
              <a:t>ResNet50  (Selected)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1417320"/>
            <a:ext cx="1417320" cy="658368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40864" y="1545336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5C6B"/>
                </a:solidFill>
                <a:latin typeface="Calibri"/>
              </a:rPr>
              <a:t>14.06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1417320"/>
            <a:ext cx="1417320" cy="658368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58183" y="1545336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5C6B"/>
                </a:solidFill>
                <a:latin typeface="Calibri"/>
              </a:rPr>
              <a:t>10.58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1417320"/>
            <a:ext cx="1417320" cy="658368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75503" y="1545336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5C6B"/>
                </a:solidFill>
                <a:latin typeface="Calibri"/>
              </a:rPr>
              <a:t>17.32%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59" y="1417320"/>
            <a:ext cx="1417320" cy="658368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92823" y="1545336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5C6B"/>
                </a:solidFill>
                <a:latin typeface="Calibri"/>
              </a:rPr>
              <a:t>47.19%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417320"/>
            <a:ext cx="73152" cy="658368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2075688"/>
            <a:ext cx="1828800" cy="658368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" y="220370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2"/>
                </a:solidFill>
                <a:latin typeface="Calibri"/>
              </a:rPr>
              <a:t>EfficientNet-B0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2075688"/>
            <a:ext cx="1417320" cy="658368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40864" y="2203704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74F5A"/>
                </a:solidFill>
                <a:latin typeface="Calibri"/>
              </a:rPr>
              <a:t>17.59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2075688"/>
            <a:ext cx="1417320" cy="658368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58183" y="2203704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74F5A"/>
                </a:solidFill>
                <a:latin typeface="Calibri"/>
              </a:rPr>
              <a:t>14.10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2075688"/>
            <a:ext cx="1417320" cy="658368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75503" y="2203704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74F5A"/>
                </a:solidFill>
                <a:latin typeface="Calibri"/>
              </a:rPr>
              <a:t>12.99%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59" y="2075688"/>
            <a:ext cx="1417320" cy="658368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92823" y="2203704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74F5A"/>
                </a:solidFill>
                <a:latin typeface="Calibri"/>
              </a:rPr>
              <a:t>35.50%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734056"/>
            <a:ext cx="18288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2064" y="28620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2"/>
                </a:solidFill>
                <a:latin typeface="Calibri"/>
              </a:rPr>
              <a:t>ConvNeXt-Tiny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2734056"/>
            <a:ext cx="1417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340864" y="286207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74F5A"/>
                </a:solidFill>
                <a:latin typeface="Calibri"/>
              </a:rPr>
              <a:t>15.87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2734056"/>
            <a:ext cx="1417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58183" y="286207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74F5A"/>
                </a:solidFill>
                <a:latin typeface="Calibri"/>
              </a:rPr>
              <a:t>11.49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2734056"/>
            <a:ext cx="1417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75503" y="286207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74F5A"/>
                </a:solidFill>
                <a:latin typeface="Calibri"/>
              </a:rPr>
              <a:t>17.32%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59" y="2734056"/>
            <a:ext cx="1417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92823" y="286207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74F5A"/>
                </a:solidFill>
                <a:latin typeface="Calibri"/>
              </a:rPr>
              <a:t>42.86%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364992"/>
            <a:ext cx="8321040" cy="438912"/>
          </a:xfrm>
          <a:prstGeom prst="rect">
            <a:avLst/>
          </a:prstGeom>
          <a:solidFill>
            <a:srgbClr val="FDE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66928" y="3401568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2"/>
                </a:solidFill>
                <a:latin typeface="Calibri"/>
              </a:rPr>
              <a:t>Verdict: ResNet50 delivers the lowest mean and median error across all metrics. It trains stably to 100 epochs and resists outlier pull — selected as the final backbone.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913632"/>
            <a:ext cx="3931920" cy="100584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57200" y="3913632"/>
            <a:ext cx="64008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4005072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A5C6B"/>
                </a:solidFill>
                <a:latin typeface="Calibri"/>
              </a:rPr>
              <a:t>EfficientNet-B0 Stopped Early (epoch 72)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74F5A"/>
                </a:solidFill>
                <a:latin typeface="Calibri"/>
              </a:rPr>
              <a:t>Early stopping triggered before convergence — Acc@5m 4.33 pp below ResNet50. Compound scaling did not transfer well to this coordinate regression task.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3913632"/>
            <a:ext cx="4206240" cy="100584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572000" y="3913632"/>
            <a:ext cx="64008" cy="100584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09160" y="4005072"/>
            <a:ext cx="4023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A5C6B"/>
                </a:solidFill>
                <a:latin typeface="Calibri"/>
              </a:rPr>
              <a:t>ConvNeXt-Tiny Stopped Early (epoch 59)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74F5A"/>
                </a:solidFill>
                <a:latin typeface="Calibri"/>
              </a:rPr>
              <a:t>Best validation loss reached early but the test MDE is 1.8 m higher than ResNet50. Modern ConvNet design does not compensate for the limited campus dataset size.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Fine-Tuning: Five Epochs That Changed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8A94"/>
                </a:solidFill>
                <a:latin typeface="Calibri"/>
              </a:rPr>
              <a:t>ResNet50 fine-tuned on the matched photos split (N=190 test images)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2918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3200400"/>
          </a:xfrm>
          <a:prstGeom prst="rect">
            <a:avLst/>
          </a:prstGeom>
          <a:solidFill>
            <a:srgbClr val="9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A94"/>
                </a:solidFill>
                <a:latin typeface="Calibri"/>
              </a:rPr>
              <a:t>Before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8A94"/>
                </a:solidFill>
                <a:latin typeface="Calibri"/>
              </a:rPr>
              <a:t>(ResNet50 baseline on photos split)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8A94"/>
                </a:solidFill>
                <a:latin typeface="Calibri"/>
              </a:rPr>
              <a:t>MDE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C2B32"/>
                </a:solidFill>
                <a:latin typeface="Calibri"/>
              </a:rPr>
              <a:t>9.17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591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8A94"/>
                </a:solidFill>
                <a:latin typeface="Calibri"/>
              </a:rPr>
              <a:t>MedDE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3591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C2B32"/>
                </a:solidFill>
                <a:latin typeface="Calibri"/>
              </a:rPr>
              <a:t>5.65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895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8A94"/>
                </a:solidFill>
                <a:latin typeface="Calibri"/>
              </a:rPr>
              <a:t>Acc@5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8895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C2B32"/>
                </a:solidFill>
                <a:latin typeface="Calibri"/>
              </a:rPr>
              <a:t>45.26%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1985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8A94"/>
                </a:solidFill>
                <a:latin typeface="Calibri"/>
              </a:rPr>
              <a:t>Acc@10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4198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C2B32"/>
                </a:solidFill>
                <a:latin typeface="Calibri"/>
              </a:rPr>
              <a:t>74.21%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005840"/>
            <a:ext cx="1645920" cy="3200400"/>
          </a:xfrm>
          <a:prstGeom prst="rect">
            <a:avLst/>
          </a:prstGeom>
          <a:solidFill>
            <a:srgbClr val="F5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749039" y="1005840"/>
            <a:ext cx="1645920" cy="54864"/>
          </a:xfrm>
          <a:prstGeom prst="rect">
            <a:avLst/>
          </a:prstGeom>
          <a:solidFill>
            <a:srgbClr val="17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49039" y="1097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8C4E"/>
                </a:solidFill>
                <a:latin typeface="Calibri"/>
              </a:rPr>
              <a:t>Δ Gain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16276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78C4E"/>
                </a:solidFill>
                <a:latin typeface="Calibri"/>
              </a:rPr>
              <a:t>−1.53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196596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78C4E"/>
                </a:solidFill>
                <a:latin typeface="Calibri"/>
              </a:rPr>
              <a:t>MDE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2494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78C4E"/>
                </a:solidFill>
                <a:latin typeface="Calibri"/>
              </a:rPr>
              <a:t>−1.60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58775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78C4E"/>
                </a:solidFill>
                <a:latin typeface="Calibri"/>
              </a:rPr>
              <a:t>MedDE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28712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78C4E"/>
                </a:solidFill>
                <a:latin typeface="Calibri"/>
              </a:rPr>
              <a:t>+10.00 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20954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78C4E"/>
                </a:solidFill>
                <a:latin typeface="Calibri"/>
              </a:rPr>
              <a:t>Acc@5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34930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78C4E"/>
                </a:solidFill>
                <a:latin typeface="Calibri"/>
              </a:rPr>
              <a:t>+6.32 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383133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78C4E"/>
                </a:solidFill>
                <a:latin typeface="Calibri"/>
              </a:rPr>
              <a:t>Acc@10 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05840"/>
            <a:ext cx="3291840" cy="3200400"/>
          </a:xfrm>
          <a:prstGeom prst="rect">
            <a:avLst/>
          </a:prstGeom>
          <a:solidFill>
            <a:srgbClr val="F0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532120" y="1005840"/>
            <a:ext cx="73152" cy="3200400"/>
          </a:xfrm>
          <a:prstGeom prst="rect">
            <a:avLst/>
          </a:prstGeom>
          <a:solidFill>
            <a:srgbClr val="17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15000" y="1097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8C4E"/>
                </a:solidFill>
                <a:latin typeface="Calibri"/>
              </a:rPr>
              <a:t>After Fine-Tuning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14447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78C4E"/>
                </a:solidFill>
                <a:latin typeface="Calibri"/>
              </a:rPr>
              <a:t>(5 epochs on matched photos split)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18288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8C4E"/>
                </a:solidFill>
                <a:latin typeface="Calibri"/>
              </a:rPr>
              <a:t>MDE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18288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78C4E"/>
                </a:solidFill>
                <a:latin typeface="Calibri"/>
              </a:rPr>
              <a:t>7.64 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23591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8C4E"/>
                </a:solidFill>
                <a:latin typeface="Calibri"/>
              </a:rPr>
              <a:t>MedDE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23591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78C4E"/>
                </a:solidFill>
                <a:latin typeface="Calibri"/>
              </a:rPr>
              <a:t>4.04 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28895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8C4E"/>
                </a:solidFill>
                <a:latin typeface="Calibri"/>
              </a:rPr>
              <a:t>Acc@5 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28895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78C4E"/>
                </a:solidFill>
                <a:latin typeface="Calibri"/>
              </a:rPr>
              <a:t>55.26%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341985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8C4E"/>
                </a:solidFill>
                <a:latin typeface="Calibri"/>
              </a:rPr>
              <a:t>Acc@10 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4198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78C4E"/>
                </a:solidFill>
                <a:latin typeface="Calibri"/>
              </a:rPr>
              <a:t>80.53%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315968"/>
            <a:ext cx="8503920" cy="475488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4352544"/>
            <a:ext cx="83210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 dirty="0">
                <a:solidFill>
                  <a:srgbClr val="0A5C6B"/>
                </a:solidFill>
                <a:latin typeface="Calibri"/>
              </a:rPr>
              <a:t>Fine-tuning on the domain-matched split improved MedDE by 1.60 m in only 5 epochs </a:t>
            </a:r>
            <a:r>
              <a:rPr lang="he-IL" sz="1050" b="0" i="1" dirty="0">
                <a:solidFill>
                  <a:srgbClr val="0A5C6B"/>
                </a:solidFill>
                <a:latin typeface="Calibri"/>
              </a:rPr>
              <a:t>-</a:t>
            </a:r>
            <a:r>
              <a:rPr sz="1050" b="0" i="1" dirty="0">
                <a:solidFill>
                  <a:srgbClr val="0A5C6B"/>
                </a:solidFill>
                <a:latin typeface="Calibri"/>
              </a:rPr>
              <a:t> confirming that data domain alignment matters more than training duration.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Qualitative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62696" y="871625"/>
            <a:ext cx="4160520" cy="457200"/>
          </a:xfrm>
          <a:prstGeom prst="rect">
            <a:avLst/>
          </a:prstGeom>
          <a:solidFill>
            <a:srgbClr val="D5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62696" y="858141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78C4E"/>
                </a:solidFill>
                <a:latin typeface="Calibri"/>
              </a:rPr>
              <a:t>Where the Model Excels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71600"/>
            <a:ext cx="91440" cy="91440"/>
          </a:xfrm>
          <a:prstGeom prst="rect">
            <a:avLst/>
          </a:prstGeom>
          <a:solidFill>
            <a:srgbClr val="17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5C6B"/>
                </a:solidFill>
                <a:latin typeface="Calibri"/>
              </a:rPr>
              <a:t>Sub-meter accuracy (≤1.5 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3794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F5A"/>
                </a:solidFill>
                <a:latin typeface="Calibri"/>
              </a:rPr>
              <a:t>Distinct structural geometry — building corners, ramps, glass facades — anchors the regression head to precise spatial coordinates.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267712"/>
            <a:ext cx="91440" cy="91440"/>
          </a:xfrm>
          <a:prstGeom prst="rect">
            <a:avLst/>
          </a:prstGeom>
          <a:solidFill>
            <a:srgbClr val="17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249424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5C6B"/>
                </a:solidFill>
                <a:latin typeface="Calibri"/>
              </a:rPr>
              <a:t>Well-lit daylight scenes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42032"/>
            <a:ext cx="3794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F5A"/>
                </a:solidFill>
                <a:latin typeface="Calibri"/>
              </a:rPr>
              <a:t>Clean feature maps from ImageNet-pretrained backbone weights; color and edge cues are unambiguous at standard exposure.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3163824"/>
            <a:ext cx="91440" cy="91440"/>
          </a:xfrm>
          <a:prstGeom prst="rect">
            <a:avLst/>
          </a:prstGeom>
          <a:solidFill>
            <a:srgbClr val="17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145536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5C6B"/>
                </a:solidFill>
                <a:latin typeface="Calibri"/>
              </a:rPr>
              <a:t>Unique viewpoints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38144"/>
            <a:ext cx="3794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F5A"/>
                </a:solidFill>
                <a:latin typeface="Calibri"/>
              </a:rPr>
              <a:t>When a camera angle is rare in the training set, the model generalizes well because there is no confusing near-duplicate.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97536" y="861550"/>
            <a:ext cx="4160520" cy="457200"/>
          </a:xfrm>
          <a:prstGeom prst="rect">
            <a:avLst/>
          </a:prstGeom>
          <a:solidFill>
            <a:srgbClr val="F8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97536" y="875034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C0392B"/>
                </a:solidFill>
                <a:latin typeface="Calibri"/>
              </a:rPr>
              <a:t>Failure Modes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1371600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1353312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Night scenes with high noise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1645920"/>
            <a:ext cx="3794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F5A"/>
                </a:solidFill>
                <a:latin typeface="Calibri"/>
              </a:rPr>
              <a:t>Extreme sensor noise (ISO 3200+) destroys edge features. The backbone cannot extract stable spatial cues, producing outlier predictions.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2267712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2249424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Repetitive facades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2542032"/>
            <a:ext cx="3794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F5A"/>
                </a:solidFill>
                <a:latin typeface="Calibri"/>
              </a:rPr>
              <a:t>Featureless repeating walls offer no discriminative signal. The model defaults to a regression mean, inflating MDE severely.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3163824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2040" y="3145536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Dynamic scene clutter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438144"/>
            <a:ext cx="3794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F5A"/>
                </a:solidFill>
                <a:latin typeface="Calibri"/>
              </a:rPr>
              <a:t>Temporary objects (vehicles, groups) near unique anchors misdirect attention away from permanent architectural features.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822960"/>
            <a:ext cx="73152" cy="3200400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4315968"/>
            <a:ext cx="8503920" cy="475488"/>
          </a:xfrm>
          <a:prstGeom prst="rect">
            <a:avLst/>
          </a:prstGeom>
          <a:solidFill>
            <a:srgbClr val="FDE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352544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C2B32"/>
                </a:solidFill>
                <a:latin typeface="Calibri"/>
              </a:rPr>
              <a:t>Key insight: MedDE (4.04 m) is a strong representative of the typical user experience. MDE (7.64 m) is inflated by a small tail of catastrophic night-scene failures.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8A94"/>
                </a:solidFill>
                <a:latin typeface="Calibri"/>
              </a:rPr>
              <a:t>Demonstrating that each design component is beneficial and necessary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416052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4160520" cy="54864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A5C6B"/>
                </a:solidFill>
                <a:latin typeface="Calibri"/>
              </a:rPr>
              <a:t>Ablation A </a:t>
            </a:r>
            <a:r>
              <a:rPr lang="he-IL" sz="1200" b="1" i="0" dirty="0">
                <a:solidFill>
                  <a:srgbClr val="0A5C6B"/>
                </a:solidFill>
                <a:latin typeface="Calibri"/>
              </a:rPr>
              <a:t>-</a:t>
            </a:r>
            <a:r>
              <a:rPr sz="1200" b="1" i="0" dirty="0">
                <a:solidFill>
                  <a:srgbClr val="0A5C6B"/>
                </a:solidFill>
                <a:latin typeface="Calibri"/>
              </a:rPr>
              <a:t> Backbone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8988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8A94"/>
                </a:solidFill>
                <a:latin typeface="Calibri"/>
              </a:rPr>
              <a:t>Question: Does backbone choice affect GPS regression accuracy?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783080"/>
            <a:ext cx="1463040" cy="384048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3" y="1847088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47088" y="1783080"/>
            <a:ext cx="822960" cy="384048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83664" y="1847088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MDE (m)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1783080"/>
            <a:ext cx="822960" cy="384048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06624" y="1847088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93008" y="1783080"/>
            <a:ext cx="822960" cy="384048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9584" y="1847088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Acc@5m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167128"/>
            <a:ext cx="1463040" cy="402336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3" y="2240280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5C6B"/>
                </a:solidFill>
                <a:latin typeface="Calibri"/>
              </a:rPr>
              <a:t>ResNet50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47088" y="2167128"/>
            <a:ext cx="822960" cy="402336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3664" y="2240280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A5C6B"/>
                </a:solidFill>
                <a:latin typeface="Calibri"/>
              </a:rPr>
              <a:t>14.06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2167128"/>
            <a:ext cx="822960" cy="402336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06624" y="2240280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A5C6B"/>
                </a:solidFill>
                <a:latin typeface="Calibri"/>
              </a:rPr>
              <a:t>10.58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93008" y="2167128"/>
            <a:ext cx="822960" cy="402336"/>
          </a:xfrm>
          <a:prstGeom prst="rect">
            <a:avLst/>
          </a:prstGeom>
          <a:solidFill>
            <a:srgbClr val="B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29584" y="2240280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A5C6B"/>
                </a:solidFill>
                <a:latin typeface="Calibri"/>
              </a:rPr>
              <a:t>17.32%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2569464"/>
            <a:ext cx="1463040" cy="402336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0623" y="2642616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2"/>
                </a:solidFill>
                <a:latin typeface="Calibri"/>
              </a:rPr>
              <a:t>EfficientNet-B0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47088" y="2569464"/>
            <a:ext cx="822960" cy="402336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83664" y="264261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2B32"/>
                </a:solidFill>
                <a:latin typeface="Calibri"/>
              </a:rPr>
              <a:t>17.59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70048" y="2569464"/>
            <a:ext cx="822960" cy="402336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06624" y="264261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2B32"/>
                </a:solidFill>
                <a:latin typeface="Calibri"/>
              </a:rPr>
              <a:t>14.10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93008" y="2569464"/>
            <a:ext cx="822960" cy="402336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29584" y="264261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2B32"/>
                </a:solidFill>
                <a:latin typeface="Calibri"/>
              </a:rPr>
              <a:t>12.99%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2971800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0623" y="3044952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2"/>
                </a:solidFill>
                <a:latin typeface="Calibri"/>
              </a:rPr>
              <a:t>ConvNeXt-Tiny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47088" y="2971800"/>
            <a:ext cx="8229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3664" y="3044952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2B32"/>
                </a:solidFill>
                <a:latin typeface="Calibri"/>
              </a:rPr>
              <a:t>15.87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70048" y="2971800"/>
            <a:ext cx="8229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06624" y="3044952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2B32"/>
                </a:solidFill>
                <a:latin typeface="Calibri"/>
              </a:rPr>
              <a:t>11.49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93008" y="2971800"/>
            <a:ext cx="8229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29584" y="3044952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2B32"/>
                </a:solidFill>
                <a:latin typeface="Calibri"/>
              </a:rPr>
              <a:t>17.32%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3456432"/>
            <a:ext cx="39776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F5A"/>
                </a:solidFill>
                <a:latin typeface="Calibri"/>
              </a:rPr>
              <a:t>Conclusion: Removing ResNet50 and substituting EfficientNet-B0 increases MDE by +3.53 m (+25%) and drops Acc@5m by 4.33 pp. ConvNeXt-Tiny is intermediate but still 1.81 m worse. ResNet50 is the necessary choice.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914400"/>
            <a:ext cx="416052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663440" y="914400"/>
            <a:ext cx="4160520" cy="54864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54880" y="1005840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A5C6B"/>
                </a:solidFill>
                <a:latin typeface="Calibri"/>
              </a:rPr>
              <a:t>Ablation B </a:t>
            </a:r>
            <a:r>
              <a:rPr lang="he-IL" sz="1200" b="1" i="0" dirty="0">
                <a:solidFill>
                  <a:srgbClr val="0A5C6B"/>
                </a:solidFill>
                <a:latin typeface="Calibri"/>
              </a:rPr>
              <a:t>-</a:t>
            </a:r>
            <a:r>
              <a:rPr sz="1200" b="1" i="0" dirty="0">
                <a:solidFill>
                  <a:srgbClr val="0A5C6B"/>
                </a:solidFill>
                <a:latin typeface="Calibri"/>
              </a:rPr>
              <a:t> Fine-Tuning Stage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138988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8A94"/>
                </a:solidFill>
                <a:latin typeface="Calibri"/>
              </a:rPr>
              <a:t>Question: Does fine-tuning on the matched split add measurable value?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13035" y="1783080"/>
            <a:ext cx="1078992" cy="384048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13035" y="1847088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Config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92027" y="1783080"/>
            <a:ext cx="1005840" cy="384048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828603" y="1847088"/>
            <a:ext cx="950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MDE (m)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97866" y="1783080"/>
            <a:ext cx="1005840" cy="384048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34442" y="1847088"/>
            <a:ext cx="950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MedDE (m)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03706" y="1783080"/>
            <a:ext cx="1005840" cy="384048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840282" y="1847088"/>
            <a:ext cx="950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Acc@5 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13035" y="2167128"/>
            <a:ext cx="1078992" cy="402336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03892" y="2240280"/>
            <a:ext cx="10789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C2B32"/>
                </a:solidFill>
                <a:latin typeface="Calibri"/>
              </a:rPr>
              <a:t>Without FT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92027" y="2167128"/>
            <a:ext cx="1005840" cy="402336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828603" y="2240280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2B32"/>
                </a:solidFill>
                <a:latin typeface="Calibri"/>
              </a:rPr>
              <a:t>9.17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7866" y="2167128"/>
            <a:ext cx="1005840" cy="402336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834442" y="2240280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2B32"/>
                </a:solidFill>
                <a:latin typeface="Calibri"/>
              </a:rPr>
              <a:t>5.65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03706" y="2167128"/>
            <a:ext cx="1005840" cy="402336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840282" y="2240280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2B32"/>
                </a:solidFill>
                <a:latin typeface="Calibri"/>
              </a:rPr>
              <a:t>45.26%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13035" y="2569464"/>
            <a:ext cx="1078992" cy="402336"/>
          </a:xfrm>
          <a:prstGeom prst="rect">
            <a:avLst/>
          </a:prstGeom>
          <a:solidFill>
            <a:srgbClr val="D5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13035" y="2642616"/>
            <a:ext cx="10607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0A5C6B"/>
                </a:solidFill>
                <a:latin typeface="Calibri"/>
              </a:rPr>
              <a:t>With FT (5 ep)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92027" y="2569464"/>
            <a:ext cx="1005840" cy="402336"/>
          </a:xfrm>
          <a:prstGeom prst="rect">
            <a:avLst/>
          </a:prstGeom>
          <a:solidFill>
            <a:srgbClr val="D5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828603" y="2642616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A5C6B"/>
                </a:solidFill>
                <a:latin typeface="Calibri"/>
              </a:rPr>
              <a:t>7.64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97866" y="2569464"/>
            <a:ext cx="1005840" cy="402336"/>
          </a:xfrm>
          <a:prstGeom prst="rect">
            <a:avLst/>
          </a:prstGeom>
          <a:solidFill>
            <a:srgbClr val="D5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834442" y="2642616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A5C6B"/>
                </a:solidFill>
                <a:latin typeface="Calibri"/>
              </a:rPr>
              <a:t>4.04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03706" y="2569464"/>
            <a:ext cx="1005840" cy="402336"/>
          </a:xfrm>
          <a:prstGeom prst="rect">
            <a:avLst/>
          </a:prstGeom>
          <a:solidFill>
            <a:srgbClr val="D5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840282" y="2642616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A5C6B"/>
                </a:solidFill>
                <a:latin typeface="Calibri"/>
              </a:rPr>
              <a:t>55.26%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13035" y="2971800"/>
            <a:ext cx="1078992" cy="402336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703891" y="3044952"/>
            <a:ext cx="106984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178C4E"/>
                </a:solidFill>
                <a:latin typeface="Calibri"/>
              </a:rPr>
              <a:t>Δ (gain)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92027" y="2971800"/>
            <a:ext cx="1005840" cy="402336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828603" y="3044952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78C4E"/>
                </a:solidFill>
                <a:latin typeface="Calibri"/>
              </a:rPr>
              <a:t>−1.53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97866" y="2971800"/>
            <a:ext cx="1005840" cy="402336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834442" y="3044952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78C4E"/>
                </a:solidFill>
                <a:latin typeface="Calibri"/>
              </a:rPr>
              <a:t>−1.60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03706" y="2971800"/>
            <a:ext cx="1005840" cy="402336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840282" y="3044952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78C4E"/>
                </a:solidFill>
                <a:latin typeface="Calibri"/>
              </a:rPr>
              <a:t>+10.00 pp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36592" y="3456432"/>
            <a:ext cx="39776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F5A"/>
                </a:solidFill>
                <a:latin typeface="Calibri"/>
              </a:rPr>
              <a:t>Conclusion: Removing the fine-tuning stage increases MedDE by +1.60 m and drops Acc@5m by 10 percentage points on the same test split. Five focused epochs on a matched dataset dominate broader training.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We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8A94"/>
                </a:solidFill>
                <a:latin typeface="Calibri"/>
              </a:rPr>
              <a:t>Technical, conceptual, and practical insights from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41148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82296" cy="1737360"/>
          </a:xfrm>
          <a:prstGeom prst="rect">
            <a:avLst/>
          </a:prstGeom>
          <a:solidFill>
            <a:srgbClr val="0A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051560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5C6B"/>
                </a:solidFill>
                <a:latin typeface="Calibri"/>
              </a:rPr>
              <a:t>Geodetic Regression Is Structurally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417320"/>
            <a:ext cx="3886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F5A"/>
                </a:solidFill>
                <a:latin typeface="Calibri"/>
              </a:rPr>
              <a:t>Lat/lon are continuous and jointly correlated. Unlike classification, there is no natural decision boundary — a small coordinate error in one direction may map to tens of meters. Huber loss with a small delta (0.1) was essential to suppress outlier gradients.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960120"/>
            <a:ext cx="41148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60" y="960120"/>
            <a:ext cx="82296" cy="173736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73752" y="1051560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5C6B"/>
                </a:solidFill>
                <a:latin typeface="Calibri"/>
              </a:rPr>
              <a:t>Scaler Leakage Is a Silent Performance Killer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1417320"/>
            <a:ext cx="3886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F5A"/>
                </a:solidFill>
                <a:latin typeface="Calibri"/>
              </a:rPr>
              <a:t>We caught ourselves almost fitting the MinMaxScaler on the full dataset. Fitting after splitting — and sharing a single JSON split manifest across all runs — was the only way to guarantee fair cross-backbone comparisons.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07792"/>
            <a:ext cx="41148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907792"/>
            <a:ext cx="82296" cy="1737360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" y="2999232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5C6B"/>
                </a:solidFill>
                <a:latin typeface="Calibri"/>
              </a:rPr>
              <a:t>Data Domain Matters More Than Training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3364992"/>
            <a:ext cx="3886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F5A"/>
                </a:solidFill>
                <a:latin typeface="Calibri"/>
              </a:rPr>
              <a:t>The photos_gt split was smaller but better aligned with the test distribution. Fine-tuning on it for only 5 epochs beat 100 epochs on the broader dataset. Domain fit trumps epoch count for small-dataset regression.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2907792"/>
            <a:ext cx="41148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9160" y="2907792"/>
            <a:ext cx="82296" cy="1737360"/>
          </a:xfrm>
          <a:prstGeom prst="rect">
            <a:avLst/>
          </a:prstGeom>
          <a:solidFill>
            <a:srgbClr val="5A7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73752" y="2999232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5C6B"/>
                </a:solidFill>
                <a:latin typeface="Calibri"/>
              </a:rPr>
              <a:t>Night Data Is the Main Bottleneck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3364992"/>
            <a:ext cx="3886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F5A"/>
                </a:solidFill>
                <a:latin typeface="Calibri"/>
              </a:rPr>
              <a:t>722 labeled night images represent a distinct domain that the model has not mastered. Oversampling or domain-adversarial training for low-light scenes would likely close the performance gap and reduce the outlier tail driving up MDE.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5C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2606040" cy="1234440"/>
          </a:xfrm>
          <a:prstGeom prst="rect">
            <a:avLst/>
          </a:prstGeom>
          <a:solidFill>
            <a:srgbClr val="14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4.04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992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F0F5"/>
                </a:solidFill>
                <a:latin typeface="Calibri"/>
              </a:rPr>
              <a:t>Median Distance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005840"/>
            <a:ext cx="2606040" cy="123444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46120" y="105156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55.26%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70992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F0F5"/>
                </a:solidFill>
                <a:latin typeface="Calibri"/>
              </a:rPr>
              <a:t>Accuracy within 5 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005840"/>
            <a:ext cx="2606040" cy="1234440"/>
          </a:xfrm>
          <a:prstGeom prst="rect">
            <a:avLst/>
          </a:prstGeom>
          <a:solidFill>
            <a:srgbClr val="17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79" y="105156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80.53%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170992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F0F5"/>
                </a:solidFill>
                <a:latin typeface="Calibri"/>
              </a:rPr>
              <a:t>Accuracy within 10 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23160"/>
            <a:ext cx="91440" cy="9144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38658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End-to-end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97479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E3E8"/>
                </a:solidFill>
                <a:latin typeface="Calibri"/>
              </a:rPr>
              <a:t>A deterministic EXIF-driven pipeline with strict split isolation and Haversine evaluation produces reproducible, fair results.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27832"/>
            <a:ext cx="91440" cy="9144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1912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ResNet50 dominance.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02151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E3E8"/>
                </a:solidFill>
                <a:latin typeface="Calibri"/>
              </a:rPr>
              <a:t>ResNet50 outperforms both EfficientNet-B0 and ConvNeXt-Tiny on this small-domain dataset. Transfer learning depth beats architectural novelty.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32504"/>
            <a:ext cx="91440" cy="9144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995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Fine-tuning amplifies gains.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0682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E3E8"/>
                </a:solidFill>
                <a:latin typeface="Calibri"/>
              </a:rPr>
              <a:t>Five targeted fine-tuning epochs on a domain-matched split yield a 28% reduction in Median Error compared to broad training alone.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4700016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BFE3E8"/>
                </a:solidFill>
                <a:latin typeface="Calibri"/>
              </a:rPr>
              <a:t>Future work: uncertainty scoring to reject ambiguous inputs  ·  oversampling night imagery  ·  scene-type conditioning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2599</TotalTime>
  <Words>1687</Words>
  <Application>Microsoft Office PowerPoint</Application>
  <PresentationFormat>‫הצגה על המסך (16:9)</PresentationFormat>
  <Paragraphs>226</Paragraphs>
  <Slides>12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shahaf kita</cp:lastModifiedBy>
  <cp:revision>4</cp:revision>
  <dcterms:created xsi:type="dcterms:W3CDTF">2013-01-27T09:14:16Z</dcterms:created>
  <dcterms:modified xsi:type="dcterms:W3CDTF">2026-04-27T14:37:03Z</dcterms:modified>
  <cp:category/>
</cp:coreProperties>
</file>